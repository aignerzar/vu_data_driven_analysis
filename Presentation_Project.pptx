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28" r:id="rId2"/>
  </p:sldMasterIdLst>
  <p:notesMasterIdLst>
    <p:notesMasterId r:id="rId16"/>
  </p:notesMasterIdLst>
  <p:handoutMasterIdLst>
    <p:handoutMasterId r:id="rId17"/>
  </p:handoutMasterIdLst>
  <p:sldIdLst>
    <p:sldId id="269" r:id="rId3"/>
    <p:sldId id="260" r:id="rId4"/>
    <p:sldId id="270" r:id="rId5"/>
    <p:sldId id="271" r:id="rId6"/>
    <p:sldId id="272" r:id="rId7"/>
    <p:sldId id="273" r:id="rId8"/>
    <p:sldId id="279" r:id="rId9"/>
    <p:sldId id="280" r:id="rId10"/>
    <p:sldId id="274" r:id="rId11"/>
    <p:sldId id="275" r:id="rId12"/>
    <p:sldId id="276" r:id="rId13"/>
    <p:sldId id="277" r:id="rId14"/>
    <p:sldId id="27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43433"/>
    <a:srgbClr val="00294C"/>
    <a:srgbClr val="4C4D4C"/>
    <a:srgbClr val="EB8B2D"/>
    <a:srgbClr val="636462"/>
    <a:srgbClr val="7777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83" autoAdjust="0"/>
    <p:restoredTop sz="94658"/>
  </p:normalViewPr>
  <p:slideViewPr>
    <p:cSldViewPr snapToGrid="0" snapToObjects="1" showGuides="1">
      <p:cViewPr varScale="1">
        <p:scale>
          <a:sx n="120" d="100"/>
          <a:sy n="120" d="100"/>
        </p:scale>
        <p:origin x="2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70" d="100"/>
          <a:sy n="170" d="100"/>
        </p:scale>
        <p:origin x="6480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AF9A7093-B570-B193-D7A9-C5C63DBA201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ABD1486-6470-ADF8-DE88-7EFF4FFC6F9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35FBCA-7827-204B-8916-3BD441F72BB8}" type="datetimeFigureOut">
              <a:rPr lang="de-DE" smtClean="0"/>
              <a:t>18.06.26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4AD9848-4544-6C88-D485-3E2FFA25B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A54C57B-ECE4-849C-BD69-0C6CD30F619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B2C0D7-0313-8748-AFD1-FE9CFDB25CA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658877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2CE5A1-857B-214D-8BEE-AF65CEFCD544}" type="datetimeFigureOut">
              <a:rPr lang="de-DE" smtClean="0"/>
              <a:t>18.06.26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531BCB-E4CC-CD41-BF0E-941D9510A3D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562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Screenshot, Design enthält.&#10;&#10;KI-generierte Inhalte können fehlerhaft sein.">
            <a:extLst>
              <a:ext uri="{FF2B5EF4-FFF2-40B4-BE49-F238E27FC236}">
                <a16:creationId xmlns:a16="http://schemas.microsoft.com/office/drawing/2014/main" id="{223FF5FB-C0BC-8FBF-E010-82C75F8599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4A5A38D-E190-82AE-46C3-2654892513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5423" y="2624296"/>
            <a:ext cx="10561669" cy="477837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667" b="1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15FB9842-8DFB-C8D2-DAF3-F9AEA1236D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85423" y="5407457"/>
            <a:ext cx="10561669" cy="457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>
                <a:solidFill>
                  <a:srgbClr val="343433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917861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223FF5FB-C0BC-8FBF-E010-82C75F8599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4A5A38D-E190-82AE-46C3-2654892513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5423" y="2624296"/>
            <a:ext cx="10561669" cy="477837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667" b="1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2" name="Textplatzhalter 12">
            <a:extLst>
              <a:ext uri="{FF2B5EF4-FFF2-40B4-BE49-F238E27FC236}">
                <a16:creationId xmlns:a16="http://schemas.microsoft.com/office/drawing/2014/main" id="{857560AF-62DA-685C-05D3-86EBDEF3A4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85423" y="5407457"/>
            <a:ext cx="10561669" cy="457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>
                <a:solidFill>
                  <a:srgbClr val="343433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124398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44FC01E-4815-58CB-245F-C6264A32E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408" y="1130142"/>
            <a:ext cx="10858029" cy="4746783"/>
          </a:xfrm>
        </p:spPr>
        <p:txBody>
          <a:bodyPr/>
          <a:lstStyle>
            <a:lvl1pPr marL="228594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1pPr>
            <a:lvl2pPr marL="685783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2pPr>
            <a:lvl3pPr marL="1142971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3pPr>
            <a:lvl4pPr marL="1600160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4pPr>
            <a:lvl5pPr marL="2057349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F467342-6F17-B273-AB31-7550A6A2E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7408" y="332656"/>
            <a:ext cx="10865960" cy="477837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667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160C85B2-D425-5CFB-4251-19ED243B1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88966" y="6357537"/>
            <a:ext cx="4114800" cy="314425"/>
          </a:xfrm>
          <a:prstGeom prst="rect">
            <a:avLst/>
          </a:prstGeom>
        </p:spPr>
        <p:txBody>
          <a:bodyPr anchor="ctr" anchorCtr="1"/>
          <a:lstStyle>
            <a:lvl1pPr algn="ctr">
              <a:defRPr sz="933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de-DE" dirty="0"/>
              <a:t>Titel oder Vortragender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5E0B9212-D1C1-ADB0-2A92-B1D1B2B01F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8836" y="6355278"/>
            <a:ext cx="888247" cy="316684"/>
          </a:xfrm>
          <a:prstGeom prst="rect">
            <a:avLst/>
          </a:prstGeom>
        </p:spPr>
        <p:txBody>
          <a:bodyPr anchor="ctr" anchorCtr="1"/>
          <a:lstStyle>
            <a:lvl1pPr algn="r">
              <a:defRPr sz="933">
                <a:solidFill>
                  <a:schemeClr val="accent3"/>
                </a:solidFill>
              </a:defRPr>
            </a:lvl1pPr>
          </a:lstStyle>
          <a:p>
            <a:r>
              <a:rPr lang="de-DE"/>
              <a:t>Seite </a:t>
            </a:r>
            <a:fld id="{EBA229B5-7CFD-BC45-B1DD-7E8FA6FF2A01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97E50-EC1F-01A0-B1F3-70989E79ED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71980" y="6357537"/>
            <a:ext cx="1311917" cy="3166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33">
                <a:solidFill>
                  <a:schemeClr val="accent3"/>
                </a:solidFill>
              </a:defRPr>
            </a:lvl1pPr>
          </a:lstStyle>
          <a:p>
            <a:fld id="{7C3CDC0F-71BF-B840-812C-9588125E0BFE}" type="datetime6">
              <a:rPr lang="de-DE" smtClean="0"/>
              <a:pPr/>
              <a:t>Juni 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2403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0" userDrawn="1">
          <p15:clr>
            <a:srgbClr val="FBAE40"/>
          </p15:clr>
        </p15:guide>
        <p15:guide id="2" pos="483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6763" y="1125538"/>
            <a:ext cx="5273191" cy="4751387"/>
          </a:xfrm>
        </p:spPr>
        <p:txBody>
          <a:bodyPr>
            <a:normAutofit/>
          </a:bodyPr>
          <a:lstStyle>
            <a:lvl1pPr marL="228594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1pPr>
            <a:lvl2pPr marL="685783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2pPr>
            <a:lvl3pPr marL="1142971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3pPr>
            <a:lvl4pPr marL="1600160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4pPr>
            <a:lvl5pPr marL="2057349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7F25E90-E439-A938-CC55-2C9384E72BB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282000" y="1125538"/>
            <a:ext cx="5400748" cy="4751387"/>
          </a:xfrm>
        </p:spPr>
        <p:txBody>
          <a:bodyPr>
            <a:normAutofit/>
          </a:bodyPr>
          <a:lstStyle>
            <a:lvl1pPr marL="228594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1pPr>
            <a:lvl2pPr marL="685783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2pPr>
            <a:lvl3pPr marL="1142971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3pPr>
            <a:lvl4pPr marL="1600160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4pPr>
            <a:lvl5pPr marL="2057349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4869B38-494B-4C89-A74E-D20229C10B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763" y="329025"/>
            <a:ext cx="10865960" cy="477837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667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1064C877-38F5-B23B-AB59-8521CEDEF5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87069" y="6352404"/>
            <a:ext cx="4114800" cy="314425"/>
          </a:xfrm>
          <a:prstGeom prst="rect">
            <a:avLst/>
          </a:prstGeom>
        </p:spPr>
        <p:txBody>
          <a:bodyPr anchor="ctr" anchorCtr="1"/>
          <a:lstStyle>
            <a:lvl1pPr algn="ctr">
              <a:defRPr sz="933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de-DE"/>
              <a:t>Titel oder Vortragender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F45A9A-4549-7291-C45E-B517A0EB5B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6939" y="6350145"/>
            <a:ext cx="888247" cy="316684"/>
          </a:xfrm>
          <a:prstGeom prst="rect">
            <a:avLst/>
          </a:prstGeom>
        </p:spPr>
        <p:txBody>
          <a:bodyPr anchor="ctr" anchorCtr="1"/>
          <a:lstStyle>
            <a:lvl1pPr algn="r">
              <a:defRPr sz="933">
                <a:solidFill>
                  <a:schemeClr val="accent3"/>
                </a:solidFill>
              </a:defRPr>
            </a:lvl1pPr>
          </a:lstStyle>
          <a:p>
            <a:r>
              <a:rPr lang="de-DE"/>
              <a:t>Seite </a:t>
            </a:r>
            <a:fld id="{EBA229B5-7CFD-BC45-B1DD-7E8FA6FF2A01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2BEA872-6F0E-93AD-97E6-4944DF48FB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70083" y="6352404"/>
            <a:ext cx="1311917" cy="3166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33">
                <a:solidFill>
                  <a:schemeClr val="accent3"/>
                </a:solidFill>
              </a:defRPr>
            </a:lvl1pPr>
          </a:lstStyle>
          <a:p>
            <a:fld id="{7C3CDC0F-71BF-B840-812C-9588125E0BFE}" type="datetime6">
              <a:rPr lang="de-DE" smtClean="0"/>
              <a:pPr/>
              <a:t>Juni 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8730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70970" y="1797050"/>
            <a:ext cx="5201331" cy="4079875"/>
          </a:xfrm>
        </p:spPr>
        <p:txBody>
          <a:bodyPr>
            <a:normAutofit/>
          </a:bodyPr>
          <a:lstStyle>
            <a:lvl1pPr marL="228594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1pPr>
            <a:lvl2pPr marL="457189" indent="0">
              <a:buNone/>
              <a:defRPr sz="2000">
                <a:solidFill>
                  <a:srgbClr val="4C4D4C"/>
                </a:solidFill>
              </a:defRPr>
            </a:lvl2pPr>
            <a:lvl3pPr>
              <a:defRPr sz="2000">
                <a:solidFill>
                  <a:schemeClr val="accent6"/>
                </a:solidFill>
              </a:defRPr>
            </a:lvl3pPr>
            <a:lvl4pPr>
              <a:defRPr sz="2000">
                <a:solidFill>
                  <a:schemeClr val="accent6"/>
                </a:solidFill>
              </a:defRPr>
            </a:lvl4pPr>
            <a:lvl5pPr>
              <a:defRPr sz="20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endParaRPr lang="en-US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23EBBEB-ABBC-395C-14A7-2F7F0FAE60BA}"/>
              </a:ext>
            </a:extLst>
          </p:cNvPr>
          <p:cNvSpPr txBox="1"/>
          <p:nvPr userDrawn="1"/>
        </p:nvSpPr>
        <p:spPr>
          <a:xfrm>
            <a:off x="888646" y="1126927"/>
            <a:ext cx="5083656" cy="400110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bg1"/>
                </a:solidFill>
              </a:rPr>
              <a:t>Untertitelformat bearbeiten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68689F5-31B5-F924-6649-EBD229A11FB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40174" y="1797050"/>
            <a:ext cx="5201331" cy="4079875"/>
          </a:xfrm>
        </p:spPr>
        <p:txBody>
          <a:bodyPr>
            <a:normAutofit/>
          </a:bodyPr>
          <a:lstStyle>
            <a:lvl1pPr marL="228594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1pPr>
            <a:lvl2pPr marL="457189" indent="0">
              <a:buNone/>
              <a:defRPr sz="2000">
                <a:solidFill>
                  <a:srgbClr val="4C4D4C"/>
                </a:solidFill>
              </a:defRPr>
            </a:lvl2pPr>
            <a:lvl3pPr>
              <a:defRPr sz="2000">
                <a:solidFill>
                  <a:schemeClr val="accent6"/>
                </a:solidFill>
              </a:defRPr>
            </a:lvl3pPr>
            <a:lvl4pPr>
              <a:defRPr sz="2000">
                <a:solidFill>
                  <a:schemeClr val="accent6"/>
                </a:solidFill>
              </a:defRPr>
            </a:lvl4pPr>
            <a:lvl5pPr>
              <a:defRPr sz="20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endParaRPr lang="en-US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8FCADC7D-CFAE-D0EC-0BBB-45D49E9E25BF}"/>
              </a:ext>
            </a:extLst>
          </p:cNvPr>
          <p:cNvSpPr txBox="1"/>
          <p:nvPr userDrawn="1"/>
        </p:nvSpPr>
        <p:spPr>
          <a:xfrm>
            <a:off x="6140173" y="1127050"/>
            <a:ext cx="5201331" cy="400110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bg1"/>
                </a:solidFill>
              </a:rPr>
              <a:t>Untertitelformat bearbeiten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CFBFCFE1-A281-A2FB-6E30-43BF24D334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3184" y="333375"/>
            <a:ext cx="10865960" cy="477837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667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C06CE9B-759F-824A-C20A-5E10A93E48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87069" y="6354663"/>
            <a:ext cx="4114800" cy="314425"/>
          </a:xfrm>
          <a:prstGeom prst="rect">
            <a:avLst/>
          </a:prstGeom>
        </p:spPr>
        <p:txBody>
          <a:bodyPr anchor="ctr" anchorCtr="1"/>
          <a:lstStyle>
            <a:lvl1pPr algn="ctr">
              <a:defRPr sz="933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de-DE"/>
              <a:t>Titel oder Vortragender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3CBACC-8192-9FCA-5352-7C6863BD15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6939" y="6352404"/>
            <a:ext cx="888247" cy="316684"/>
          </a:xfrm>
          <a:prstGeom prst="rect">
            <a:avLst/>
          </a:prstGeom>
        </p:spPr>
        <p:txBody>
          <a:bodyPr anchor="ctr" anchorCtr="1"/>
          <a:lstStyle>
            <a:lvl1pPr algn="r">
              <a:defRPr sz="933">
                <a:solidFill>
                  <a:schemeClr val="accent3"/>
                </a:solidFill>
              </a:defRPr>
            </a:lvl1pPr>
          </a:lstStyle>
          <a:p>
            <a:r>
              <a:rPr lang="de-DE"/>
              <a:t>Seite </a:t>
            </a:r>
            <a:fld id="{EBA229B5-7CFD-BC45-B1DD-7E8FA6FF2A01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ACE8F90-C45D-8937-D1DB-0139A002D5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70083" y="6354663"/>
            <a:ext cx="1311917" cy="3166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33">
                <a:solidFill>
                  <a:schemeClr val="accent3"/>
                </a:solidFill>
              </a:defRPr>
            </a:lvl1pPr>
          </a:lstStyle>
          <a:p>
            <a:fld id="{7C3CDC0F-71BF-B840-812C-9588125E0BFE}" type="datetime6">
              <a:rPr lang="de-DE" smtClean="0"/>
              <a:pPr/>
              <a:t>Juni 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4412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86321" y="1117234"/>
            <a:ext cx="6080753" cy="4756918"/>
          </a:xfrm>
        </p:spPr>
        <p:txBody>
          <a:bodyPr/>
          <a:lstStyle>
            <a:lvl1pPr marL="228594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1pPr>
            <a:lvl2pPr marL="685783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2pPr>
            <a:lvl3pPr marL="1142971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3pPr>
            <a:lvl4pPr marL="1600160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4pPr>
            <a:lvl5pPr marL="2057349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0663" y="1120007"/>
            <a:ext cx="4538645" cy="4756918"/>
          </a:xfrm>
        </p:spPr>
        <p:txBody>
          <a:bodyPr>
            <a:normAutofit/>
          </a:bodyPr>
          <a:lstStyle>
            <a:lvl1pPr marL="0" indent="0">
              <a:buNone/>
              <a:defRPr sz="1733">
                <a:solidFill>
                  <a:srgbClr val="4C4D4C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10A2F76-5FE6-A2C9-8158-0253A4B2F1C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6763" y="602259"/>
            <a:ext cx="10878519" cy="4778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2667" dirty="0">
                <a:solidFill>
                  <a:schemeClr val="accent1"/>
                </a:solidFill>
              </a:defRPr>
            </a:lvl1pPr>
          </a:lstStyle>
          <a:p>
            <a:pPr lvl="0"/>
            <a:br>
              <a:rPr lang="de-DE" dirty="0"/>
            </a:br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  <a:endParaRPr lang="en-US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595945F4-3FF9-3EFE-16B6-5F5982EA3F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58957" y="6367937"/>
            <a:ext cx="4114800" cy="314425"/>
          </a:xfrm>
          <a:prstGeom prst="rect">
            <a:avLst/>
          </a:prstGeom>
        </p:spPr>
        <p:txBody>
          <a:bodyPr anchor="ctr" anchorCtr="1"/>
          <a:lstStyle>
            <a:lvl1pPr algn="ctr">
              <a:defRPr sz="933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de-DE"/>
              <a:t>Titel oder Vortragender</a:t>
            </a:r>
            <a:endParaRPr lang="de-DE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C5FAE91-7171-D00B-D5B3-F231E3F8D1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78827" y="6365678"/>
            <a:ext cx="888247" cy="316684"/>
          </a:xfrm>
          <a:prstGeom prst="rect">
            <a:avLst/>
          </a:prstGeom>
        </p:spPr>
        <p:txBody>
          <a:bodyPr anchor="ctr" anchorCtr="1"/>
          <a:lstStyle>
            <a:lvl1pPr algn="r">
              <a:defRPr sz="933">
                <a:solidFill>
                  <a:schemeClr val="accent3"/>
                </a:solidFill>
              </a:defRPr>
            </a:lvl1pPr>
          </a:lstStyle>
          <a:p>
            <a:r>
              <a:rPr lang="de-DE"/>
              <a:t>Seite </a:t>
            </a:r>
            <a:fld id="{EBA229B5-7CFD-BC45-B1DD-7E8FA6FF2A01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83719207-9E67-A5A0-0AFB-800C561F98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41971" y="6367937"/>
            <a:ext cx="1311917" cy="3166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33">
                <a:solidFill>
                  <a:schemeClr val="accent3"/>
                </a:solidFill>
              </a:defRPr>
            </a:lvl1pPr>
          </a:lstStyle>
          <a:p>
            <a:fld id="{7C3CDC0F-71BF-B840-812C-9588125E0BFE}" type="datetime6">
              <a:rPr lang="de-DE" smtClean="0"/>
              <a:pPr/>
              <a:t>Juni 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576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97428" y="1125538"/>
            <a:ext cx="6135295" cy="4751387"/>
          </a:xfrm>
        </p:spPr>
        <p:txBody>
          <a:bodyPr anchor="t">
            <a:normAutofit/>
          </a:bodyPr>
          <a:lstStyle>
            <a:lvl1pPr marL="0" indent="0">
              <a:buNone/>
              <a:defRPr sz="1733">
                <a:solidFill>
                  <a:srgbClr val="4C4D4C"/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de-DE" dirty="0"/>
              <a:t>Bild durch Klicken auf Symbol hinzufügen</a:t>
            </a:r>
            <a:endParaRPr lang="en-US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6C6A265-800A-43D6-2F98-C10611F547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6763" y="1125538"/>
            <a:ext cx="4538645" cy="4751387"/>
          </a:xfrm>
        </p:spPr>
        <p:txBody>
          <a:bodyPr>
            <a:normAutofit/>
          </a:bodyPr>
          <a:lstStyle>
            <a:lvl1pPr marL="0" indent="0">
              <a:buNone/>
              <a:defRPr sz="1733">
                <a:solidFill>
                  <a:srgbClr val="4C4D4C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54FDCCD-A5AF-88A5-9D20-108CCA7A46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763" y="333375"/>
            <a:ext cx="10865960" cy="477837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667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D19F5C56-FD7E-D515-80C0-7891D6A128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87069" y="6352404"/>
            <a:ext cx="4114800" cy="314425"/>
          </a:xfrm>
          <a:prstGeom prst="rect">
            <a:avLst/>
          </a:prstGeom>
        </p:spPr>
        <p:txBody>
          <a:bodyPr anchor="ctr" anchorCtr="1"/>
          <a:lstStyle>
            <a:lvl1pPr algn="ctr">
              <a:defRPr sz="933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de-DE"/>
              <a:t>Titel oder Vortragender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F6BA88-315C-2F5A-C8CA-1B8CAE5AFF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6939" y="6350145"/>
            <a:ext cx="888247" cy="316684"/>
          </a:xfrm>
          <a:prstGeom prst="rect">
            <a:avLst/>
          </a:prstGeom>
        </p:spPr>
        <p:txBody>
          <a:bodyPr anchor="ctr" anchorCtr="1"/>
          <a:lstStyle>
            <a:lvl1pPr algn="r">
              <a:defRPr sz="933">
                <a:solidFill>
                  <a:schemeClr val="accent3"/>
                </a:solidFill>
              </a:defRPr>
            </a:lvl1pPr>
          </a:lstStyle>
          <a:p>
            <a:r>
              <a:rPr lang="de-DE"/>
              <a:t>Seite </a:t>
            </a:r>
            <a:fld id="{EBA229B5-7CFD-BC45-B1DD-7E8FA6FF2A01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E1B1380-8210-48A8-BB43-B42AD035E3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70083" y="6352404"/>
            <a:ext cx="1311917" cy="3166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33">
                <a:solidFill>
                  <a:schemeClr val="accent3"/>
                </a:solidFill>
              </a:defRPr>
            </a:lvl1pPr>
          </a:lstStyle>
          <a:p>
            <a:fld id="{7C3CDC0F-71BF-B840-812C-9588125E0BFE}" type="datetime6">
              <a:rPr lang="de-DE" smtClean="0"/>
              <a:pPr/>
              <a:t>Juni 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9915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+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CD230031-93FC-50BC-76F9-90A026F0873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6763" y="1126928"/>
            <a:ext cx="10865960" cy="480053"/>
          </a:xfrm>
        </p:spPr>
        <p:txBody>
          <a:bodyPr>
            <a:normAutofit/>
          </a:bodyPr>
          <a:lstStyle>
            <a:lvl1pPr marL="0" indent="0" algn="l">
              <a:buNone/>
              <a:defRPr sz="1733">
                <a:solidFill>
                  <a:srgbClr val="4C4D4C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F17648C-2661-BBE0-ED31-F8BFFFC21DA4}"/>
              </a:ext>
            </a:extLst>
          </p:cNvPr>
          <p:cNvSpPr txBox="1">
            <a:spLocks/>
          </p:cNvSpPr>
          <p:nvPr userDrawn="1"/>
        </p:nvSpPr>
        <p:spPr>
          <a:xfrm>
            <a:off x="959280" y="1797050"/>
            <a:ext cx="10865960" cy="1056117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i="1" dirty="0">
                <a:solidFill>
                  <a:srgbClr val="4C4D4C"/>
                </a:solidFill>
                <a:latin typeface="+mn-lt"/>
              </a:rPr>
              <a:t>Zitat bearbeiten</a:t>
            </a:r>
            <a:endParaRPr lang="en-US" sz="2000" i="1" dirty="0">
              <a:solidFill>
                <a:srgbClr val="4C4D4C"/>
              </a:solidFill>
              <a:latin typeface="+mn-lt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F1926AB-352B-1D01-2E4A-B42350233D4A}"/>
              </a:ext>
            </a:extLst>
          </p:cNvPr>
          <p:cNvSpPr txBox="1">
            <a:spLocks/>
          </p:cNvSpPr>
          <p:nvPr userDrawn="1"/>
        </p:nvSpPr>
        <p:spPr>
          <a:xfrm>
            <a:off x="766763" y="2949177"/>
            <a:ext cx="10849700" cy="2927747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733" dirty="0">
                <a:solidFill>
                  <a:srgbClr val="4C4D4C"/>
                </a:solidFill>
              </a:rPr>
              <a:t>Mastertitelformat bearbeiten</a:t>
            </a:r>
            <a:endParaRPr lang="en-US" sz="1733" dirty="0">
              <a:solidFill>
                <a:srgbClr val="4C4D4C"/>
              </a:solidFill>
            </a:endParaRPr>
          </a:p>
        </p:txBody>
      </p:sp>
      <p:cxnSp>
        <p:nvCxnSpPr>
          <p:cNvPr id="11" name="Gerade Verbindung 10">
            <a:extLst>
              <a:ext uri="{FF2B5EF4-FFF2-40B4-BE49-F238E27FC236}">
                <a16:creationId xmlns:a16="http://schemas.microsoft.com/office/drawing/2014/main" id="{66364703-4655-3A8A-7A24-521B94AB028D}"/>
              </a:ext>
            </a:extLst>
          </p:cNvPr>
          <p:cNvCxnSpPr/>
          <p:nvPr userDrawn="1"/>
        </p:nvCxnSpPr>
        <p:spPr>
          <a:xfrm>
            <a:off x="863269" y="1797050"/>
            <a:ext cx="0" cy="960107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D4537A4E-7ECF-DAE3-1691-53F73276FA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763" y="333375"/>
            <a:ext cx="10865960" cy="477837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667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A9014802-BFAB-F5A2-B75F-9FB942E2C2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87069" y="6352404"/>
            <a:ext cx="4114800" cy="314425"/>
          </a:xfrm>
          <a:prstGeom prst="rect">
            <a:avLst/>
          </a:prstGeom>
        </p:spPr>
        <p:txBody>
          <a:bodyPr anchor="ctr" anchorCtr="1"/>
          <a:lstStyle>
            <a:lvl1pPr algn="ctr">
              <a:defRPr sz="933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de-DE"/>
              <a:t>Titel oder Vortragender</a:t>
            </a:r>
            <a:endParaRPr lang="de-DE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CAB30F97-4BE0-5CC1-D8E4-6176CBD1FA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6939" y="6350145"/>
            <a:ext cx="888247" cy="316684"/>
          </a:xfrm>
          <a:prstGeom prst="rect">
            <a:avLst/>
          </a:prstGeom>
        </p:spPr>
        <p:txBody>
          <a:bodyPr anchor="ctr" anchorCtr="1"/>
          <a:lstStyle>
            <a:lvl1pPr algn="r">
              <a:defRPr sz="933">
                <a:solidFill>
                  <a:schemeClr val="accent3"/>
                </a:solidFill>
              </a:defRPr>
            </a:lvl1pPr>
          </a:lstStyle>
          <a:p>
            <a:r>
              <a:rPr lang="de-DE"/>
              <a:t>Seite </a:t>
            </a:r>
            <a:fld id="{EBA229B5-7CFD-BC45-B1DD-7E8FA6FF2A01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21B5A1-CC77-7628-2F4B-D2EF0A0DFA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70083" y="6352404"/>
            <a:ext cx="1311917" cy="3166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33">
                <a:solidFill>
                  <a:schemeClr val="accent3"/>
                </a:solidFill>
              </a:defRPr>
            </a:lvl1pPr>
          </a:lstStyle>
          <a:p>
            <a:fld id="{7C3CDC0F-71BF-B840-812C-9588125E0BFE}" type="datetime6">
              <a:rPr lang="de-DE" smtClean="0"/>
              <a:pPr/>
              <a:t>Juni 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3692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DE1D3F9E-CCAE-4466-A283-C2A9F0F342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87069" y="6354663"/>
            <a:ext cx="4114800" cy="314425"/>
          </a:xfrm>
          <a:prstGeom prst="rect">
            <a:avLst/>
          </a:prstGeom>
        </p:spPr>
        <p:txBody>
          <a:bodyPr anchor="ctr" anchorCtr="1"/>
          <a:lstStyle>
            <a:lvl1pPr algn="ctr">
              <a:defRPr sz="933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de-DE"/>
              <a:t>Titel oder Vortragender</a:t>
            </a:r>
            <a:endParaRPr lang="de-DE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ECBFD8B5-A5D3-47AF-94BC-02440AFB06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6939" y="6352404"/>
            <a:ext cx="888247" cy="316684"/>
          </a:xfrm>
          <a:prstGeom prst="rect">
            <a:avLst/>
          </a:prstGeom>
        </p:spPr>
        <p:txBody>
          <a:bodyPr anchor="ctr" anchorCtr="1"/>
          <a:lstStyle>
            <a:lvl1pPr algn="r">
              <a:defRPr sz="933">
                <a:solidFill>
                  <a:schemeClr val="accent3"/>
                </a:solidFill>
              </a:defRPr>
            </a:lvl1pPr>
          </a:lstStyle>
          <a:p>
            <a:r>
              <a:rPr lang="de-DE"/>
              <a:t>Seite </a:t>
            </a:r>
            <a:fld id="{EBA229B5-7CFD-BC45-B1DD-7E8FA6FF2A01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F82951B-5DE8-4179-9CDF-0C5072183A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70083" y="6354663"/>
            <a:ext cx="1311917" cy="3166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33">
                <a:solidFill>
                  <a:schemeClr val="accent3"/>
                </a:solidFill>
              </a:defRPr>
            </a:lvl1pPr>
          </a:lstStyle>
          <a:p>
            <a:fld id="{7C3CDC0F-71BF-B840-812C-9588125E0BFE}" type="datetime6">
              <a:rPr lang="de-DE" smtClean="0"/>
              <a:pPr/>
              <a:t>Juni 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653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ckblatt Social Media+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07090AD0-FD2A-CA7D-BBD5-5B2FCD0D81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240682" cy="6885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136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3CDC0F-71BF-B840-812C-9588125E0BFE}" type="datetime6">
              <a:rPr lang="de-DE" smtClean="0"/>
              <a:t>Juni 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Titel oder Vortragender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Seite </a:t>
            </a:r>
            <a:fld id="{EBA229B5-7CFD-BC45-B1DD-7E8FA6FF2A01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218396C8-6250-4EB9-A9AF-4941536C7682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/>
          <a:stretch/>
        </p:blipFill>
        <p:spPr>
          <a:xfrm>
            <a:off x="0" y="0"/>
            <a:ext cx="12250813" cy="689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700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06" r:id="rId3"/>
    <p:sldLayoutId id="2147483708" r:id="rId4"/>
    <p:sldLayoutId id="2147483721" r:id="rId5"/>
    <p:sldLayoutId id="2147483712" r:id="rId6"/>
    <p:sldLayoutId id="2147483713" r:id="rId7"/>
    <p:sldLayoutId id="2147483714" r:id="rId8"/>
    <p:sldLayoutId id="2147483735" r:id="rId9"/>
    <p:sldLayoutId id="2147483720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09" userDrawn="1">
          <p15:clr>
            <a:srgbClr val="F26B43"/>
          </p15:clr>
        </p15:guide>
        <p15:guide id="2" pos="483" userDrawn="1">
          <p15:clr>
            <a:srgbClr val="F26B43"/>
          </p15:clr>
        </p15:guide>
        <p15:guide id="3" orient="horz" pos="210" userDrawn="1">
          <p15:clr>
            <a:srgbClr val="F26B43"/>
          </p15:clr>
        </p15:guide>
        <p15:guide id="4" orient="horz" pos="3702" userDrawn="1">
          <p15:clr>
            <a:srgbClr val="F26B43"/>
          </p15:clr>
        </p15:guide>
        <p15:guide id="5" orient="horz" pos="420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sv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1039CFF1-3575-3A46-468A-2D921CFAA4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Bayesian</a:t>
            </a:r>
            <a:r>
              <a:rPr lang="de-DE" dirty="0"/>
              <a:t> </a:t>
            </a:r>
            <a:r>
              <a:rPr lang="de-DE" dirty="0" err="1"/>
              <a:t>Landslide</a:t>
            </a:r>
            <a:r>
              <a:rPr lang="de-DE" dirty="0"/>
              <a:t> </a:t>
            </a:r>
            <a:r>
              <a:rPr lang="de-DE" dirty="0" err="1"/>
              <a:t>Susceptibility</a:t>
            </a:r>
            <a:r>
              <a:rPr lang="de-DE" dirty="0"/>
              <a:t> Modeling in </a:t>
            </a:r>
            <a:r>
              <a:rPr lang="de-DE" dirty="0" err="1"/>
              <a:t>the</a:t>
            </a:r>
            <a:r>
              <a:rPr lang="de-DE" dirty="0"/>
              <a:t> European Alps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53C1EFC3-8145-2533-83D4-7EEA6E1043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85423" y="4937760"/>
            <a:ext cx="10561669" cy="926897"/>
          </a:xfrm>
        </p:spPr>
        <p:txBody>
          <a:bodyPr>
            <a:normAutofit fontScale="92500" lnSpcReduction="20000"/>
          </a:bodyPr>
          <a:lstStyle/>
          <a:p>
            <a:endParaRPr lang="de-DE" dirty="0"/>
          </a:p>
          <a:p>
            <a:endParaRPr lang="de-DE" dirty="0"/>
          </a:p>
          <a:p>
            <a:r>
              <a:rPr lang="de-DE" dirty="0"/>
              <a:t>Paul Großkopf, Zarah Aigner</a:t>
            </a:r>
          </a:p>
        </p:txBody>
      </p:sp>
    </p:spTree>
    <p:extLst>
      <p:ext uri="{BB962C8B-B14F-4D97-AF65-F5344CB8AC3E}">
        <p14:creationId xmlns:p14="http://schemas.microsoft.com/office/powerpoint/2010/main" val="1461771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Inhaltsplatzhalter 22">
            <a:extLst>
              <a:ext uri="{FF2B5EF4-FFF2-40B4-BE49-F238E27FC236}">
                <a16:creationId xmlns:a16="http://schemas.microsoft.com/office/drawing/2014/main" id="{1AE2A0B4-EB09-43B5-A18B-ECA8192D5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/>
              <a:t>Climate </a:t>
            </a:r>
            <a:r>
              <a:rPr lang="de-AT" dirty="0" err="1"/>
              <a:t>change</a:t>
            </a:r>
            <a:r>
              <a:rPr lang="de-AT" dirty="0"/>
              <a:t> </a:t>
            </a:r>
            <a:r>
              <a:rPr lang="de-AT" dirty="0" err="1"/>
              <a:t>leads</a:t>
            </a:r>
            <a:r>
              <a:rPr lang="de-AT" dirty="0"/>
              <a:t> </a:t>
            </a:r>
            <a:r>
              <a:rPr lang="de-AT" dirty="0" err="1"/>
              <a:t>to</a:t>
            </a:r>
            <a:r>
              <a:rPr lang="de-AT" dirty="0"/>
              <a:t> </a:t>
            </a:r>
            <a:r>
              <a:rPr lang="de-AT" dirty="0" err="1"/>
              <a:t>more</a:t>
            </a:r>
            <a:r>
              <a:rPr lang="de-AT" dirty="0"/>
              <a:t> extreme </a:t>
            </a:r>
            <a:r>
              <a:rPr lang="de-AT" dirty="0" err="1"/>
              <a:t>weather</a:t>
            </a:r>
            <a:r>
              <a:rPr lang="de-AT" dirty="0"/>
              <a:t> </a:t>
            </a:r>
            <a:r>
              <a:rPr lang="de-AT" dirty="0" err="1"/>
              <a:t>conditions</a:t>
            </a:r>
            <a:endParaRPr lang="de-AT" dirty="0"/>
          </a:p>
          <a:p>
            <a:r>
              <a:rPr lang="de-AT" dirty="0" err="1"/>
              <a:t>Risks</a:t>
            </a:r>
            <a:r>
              <a:rPr lang="de-AT" dirty="0"/>
              <a:t> </a:t>
            </a:r>
            <a:r>
              <a:rPr lang="de-AT" dirty="0" err="1"/>
              <a:t>for</a:t>
            </a:r>
            <a:r>
              <a:rPr lang="de-AT" dirty="0"/>
              <a:t> </a:t>
            </a:r>
            <a:r>
              <a:rPr lang="de-AT" dirty="0" err="1"/>
              <a:t>landslides</a:t>
            </a:r>
            <a:r>
              <a:rPr lang="de-AT" dirty="0"/>
              <a:t> </a:t>
            </a:r>
            <a:r>
              <a:rPr lang="de-AT" dirty="0" err="1"/>
              <a:t>is</a:t>
            </a:r>
            <a:r>
              <a:rPr lang="de-AT" dirty="0"/>
              <a:t> </a:t>
            </a:r>
            <a:r>
              <a:rPr lang="de-AT" dirty="0" err="1"/>
              <a:t>increasing</a:t>
            </a:r>
            <a:r>
              <a:rPr lang="de-AT" dirty="0"/>
              <a:t> in alpine </a:t>
            </a:r>
            <a:r>
              <a:rPr lang="de-AT" dirty="0" err="1"/>
              <a:t>regions</a:t>
            </a:r>
            <a:endParaRPr lang="de-AT" dirty="0"/>
          </a:p>
          <a:p>
            <a:r>
              <a:rPr lang="de-AT" dirty="0" err="1"/>
              <a:t>Obtaining</a:t>
            </a:r>
            <a:r>
              <a:rPr lang="de-AT" dirty="0"/>
              <a:t> </a:t>
            </a:r>
            <a:r>
              <a:rPr lang="de-AT" dirty="0" err="1"/>
              <a:t>better</a:t>
            </a:r>
            <a:r>
              <a:rPr lang="de-AT" dirty="0"/>
              <a:t> </a:t>
            </a:r>
            <a:r>
              <a:rPr lang="de-AT" dirty="0" err="1"/>
              <a:t>predictions</a:t>
            </a:r>
            <a:r>
              <a:rPr lang="de-AT" dirty="0"/>
              <a:t> </a:t>
            </a:r>
            <a:r>
              <a:rPr lang="de-AT" dirty="0" err="1"/>
              <a:t>for</a:t>
            </a:r>
            <a:r>
              <a:rPr lang="de-AT" dirty="0"/>
              <a:t> </a:t>
            </a:r>
            <a:r>
              <a:rPr lang="de-AT" dirty="0" err="1"/>
              <a:t>landslides</a:t>
            </a:r>
            <a:r>
              <a:rPr lang="de-AT" dirty="0"/>
              <a:t> </a:t>
            </a:r>
            <a:r>
              <a:rPr lang="de-AT" dirty="0" err="1"/>
              <a:t>is</a:t>
            </a:r>
            <a:r>
              <a:rPr lang="de-AT" dirty="0"/>
              <a:t> </a:t>
            </a:r>
            <a:r>
              <a:rPr lang="de-AT" dirty="0" err="1"/>
              <a:t>of</a:t>
            </a:r>
            <a:r>
              <a:rPr lang="de-AT" dirty="0"/>
              <a:t> high </a:t>
            </a:r>
            <a:r>
              <a:rPr lang="de-AT" dirty="0" err="1"/>
              <a:t>relevance</a:t>
            </a:r>
            <a:endParaRPr lang="de-AT" dirty="0"/>
          </a:p>
          <a:p>
            <a:endParaRPr lang="de-AT" dirty="0"/>
          </a:p>
          <a:p>
            <a:endParaRPr lang="de-AT" dirty="0"/>
          </a:p>
          <a:p>
            <a:endParaRPr lang="de-AT" dirty="0"/>
          </a:p>
          <a:p>
            <a:r>
              <a:rPr lang="de-AT" dirty="0"/>
              <a:t>Fotos Erdrutsche </a:t>
            </a:r>
            <a:r>
              <a:rPr lang="de-AT" dirty="0" err="1"/>
              <a:t>usw</a:t>
            </a:r>
            <a:r>
              <a:rPr lang="de-AT" dirty="0"/>
              <a:t> </a:t>
            </a:r>
          </a:p>
          <a:p>
            <a:r>
              <a:rPr lang="de-AT" dirty="0"/>
              <a:t>Vielleicht auch </a:t>
            </a:r>
            <a:r>
              <a:rPr lang="de-AT" dirty="0" err="1"/>
              <a:t>foto</a:t>
            </a:r>
            <a:r>
              <a:rPr lang="de-AT" dirty="0"/>
              <a:t> von den alpen </a:t>
            </a:r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E08AC669-A846-4932-8A9C-BCB64DB106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 dirty="0"/>
              <a:t>Motivation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90557BE-3D57-486E-B62E-9294FE4B14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25251" y="6352404"/>
            <a:ext cx="4114800" cy="314425"/>
          </a:xfrm>
        </p:spPr>
        <p:txBody>
          <a:bodyPr/>
          <a:lstStyle/>
          <a:p>
            <a:r>
              <a:rPr lang="de-DE" dirty="0"/>
              <a:t>Paul Großkopf &amp; Zarah Aigner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A9A69A4-A408-41D6-A2A4-51B2066B32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45121" y="6350145"/>
            <a:ext cx="888247" cy="316684"/>
          </a:xfrm>
        </p:spPr>
        <p:txBody>
          <a:bodyPr/>
          <a:lstStyle/>
          <a:p>
            <a:r>
              <a:rPr lang="de-DE"/>
              <a:t>Seite </a:t>
            </a:r>
            <a:fld id="{EBA229B5-7CFD-BC45-B1DD-7E8FA6FF2A01}" type="slidenum">
              <a:rPr lang="de-DE" smtClean="0"/>
              <a:pPr/>
              <a:t>2</a:t>
            </a:fld>
            <a:endParaRPr lang="de-DE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7F5EE33-65E8-40A5-B6A0-D333CBE017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8265" y="6352404"/>
            <a:ext cx="1311917" cy="316684"/>
          </a:xfrm>
        </p:spPr>
        <p:txBody>
          <a:bodyPr/>
          <a:lstStyle/>
          <a:p>
            <a:fld id="{7C3CDC0F-71BF-B840-812C-9588125E0BFE}" type="datetime6">
              <a:rPr lang="de-DE" smtClean="0"/>
              <a:pPr/>
              <a:t>Juni 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7817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081BB465-EBEB-B554-0505-356F6525BA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de-DE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de-DE" sz="2400" i="0" dirty="0" err="1" smtClean="0">
                              <a:latin typeface="Cambria Math" panose="02040503050406030204" pitchFamily="18" charset="0"/>
                            </a:rPr>
                            <m:t>landslide</m:t>
                          </m:r>
                        </m:e>
                        <m:e>
                          <m:r>
                            <m:rPr>
                              <m:nor/>
                            </m:rPr>
                            <a:rPr lang="de-DE" sz="2400" i="0" dirty="0" err="1" smtClean="0">
                              <a:latin typeface="Cambria Math" panose="02040503050406030204" pitchFamily="18" charset="0"/>
                            </a:rPr>
                            <m:t>slope</m:t>
                          </m:r>
                          <m:r>
                            <m:rPr>
                              <m:nor/>
                            </m:rPr>
                            <a:rPr lang="de-DE" sz="2400" i="0" dirty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lang="de-DE" sz="2400" i="0" dirty="0" err="1" smtClean="0">
                              <a:latin typeface="Cambria Math" panose="02040503050406030204" pitchFamily="18" charset="0"/>
                            </a:rPr>
                            <m:t>elevation</m:t>
                          </m:r>
                          <m:r>
                            <m:rPr>
                              <m:nor/>
                            </m:rPr>
                            <a:rPr lang="de-DE" sz="2400" i="0" dirty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lang="de-DE" sz="2400" i="0" dirty="0" err="1" smtClean="0">
                              <a:latin typeface="Cambria Math" panose="02040503050406030204" pitchFamily="18" charset="0"/>
                            </a:rPr>
                            <m:t>rainfall</m:t>
                          </m:r>
                        </m:e>
                      </m:d>
                    </m:oMath>
                  </m:oMathPara>
                </a14:m>
                <a:endParaRPr lang="de-AT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e-AT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/>
              </a:p>
            </p:txBody>
          </p:sp>
        </mc:Choice>
        <mc:Fallback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081BB465-EBEB-B554-0505-356F6525BA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50" t="-2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el 2">
            <a:extLst>
              <a:ext uri="{FF2B5EF4-FFF2-40B4-BE49-F238E27FC236}">
                <a16:creationId xmlns:a16="http://schemas.microsoft.com/office/drawing/2014/main" id="{884B09E1-D308-8D92-0A20-68AAA5ECF7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7408" y="332656"/>
            <a:ext cx="10865960" cy="797486"/>
          </a:xfrm>
        </p:spPr>
        <p:txBody>
          <a:bodyPr/>
          <a:lstStyle/>
          <a:p>
            <a:r>
              <a:rPr lang="de-AT" dirty="0"/>
              <a:t>Can </a:t>
            </a:r>
            <a:r>
              <a:rPr lang="de-AT" dirty="0" err="1"/>
              <a:t>Bayesian</a:t>
            </a:r>
            <a:r>
              <a:rPr lang="de-AT" dirty="0"/>
              <a:t> </a:t>
            </a:r>
            <a:r>
              <a:rPr lang="de-AT" dirty="0" err="1"/>
              <a:t>inference</a:t>
            </a:r>
            <a:r>
              <a:rPr lang="de-AT" dirty="0"/>
              <a:t> </a:t>
            </a:r>
            <a:r>
              <a:rPr lang="de-AT" dirty="0" err="1"/>
              <a:t>improve</a:t>
            </a:r>
            <a:r>
              <a:rPr lang="de-AT" dirty="0"/>
              <a:t> </a:t>
            </a:r>
            <a:r>
              <a:rPr lang="de-AT" dirty="0" err="1"/>
              <a:t>landslide</a:t>
            </a:r>
            <a:r>
              <a:rPr lang="de-AT" dirty="0"/>
              <a:t> </a:t>
            </a:r>
            <a:r>
              <a:rPr lang="de-AT" dirty="0" err="1"/>
              <a:t>susceptibility</a:t>
            </a:r>
            <a:r>
              <a:rPr lang="de-AT" dirty="0"/>
              <a:t> </a:t>
            </a:r>
            <a:r>
              <a:rPr lang="de-AT" dirty="0" err="1"/>
              <a:t>estimation</a:t>
            </a:r>
            <a:r>
              <a:rPr lang="de-AT" dirty="0"/>
              <a:t> in </a:t>
            </a:r>
            <a:r>
              <a:rPr lang="de-AT" dirty="0" err="1"/>
              <a:t>the</a:t>
            </a:r>
            <a:r>
              <a:rPr lang="de-AT" dirty="0"/>
              <a:t> European Alps?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B4258E-F220-5742-1AC7-5949A8D1A0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/>
              <a:t>Paul Großkopf &amp; Zarah Aigner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280D4CB-0CFA-997C-E0A8-242B0619A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Seite </a:t>
            </a:r>
            <a:fld id="{EBA229B5-7CFD-BC45-B1DD-7E8FA6FF2A01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E4CDA545-FD14-6D71-2079-3D6360B5E5E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C3CDC0F-71BF-B840-812C-9588125E0BFE}" type="datetime6">
              <a:rPr lang="de-DE" smtClean="0"/>
              <a:pPr/>
              <a:t>Juni 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629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77FD65DC-A458-4F44-127C-C3CF361216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9AA1293A-9851-380A-AC12-34B9823171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Acquisition </a:t>
            </a:r>
            <a:r>
              <a:rPr lang="de-DE" dirty="0" err="1"/>
              <a:t>of</a:t>
            </a:r>
            <a:r>
              <a:rPr lang="de-DE" dirty="0"/>
              <a:t> Data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0923332-6032-491B-9E00-769E288DC9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/>
              <a:t>Paul Großkopf &amp; Zarah Aigner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BC7C692-DFAA-D841-1239-C37686405A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Seite </a:t>
            </a:r>
            <a:fld id="{EBA229B5-7CFD-BC45-B1DD-7E8FA6FF2A01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8D7F6DFD-64C1-1DA7-7B39-224E915BDFA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C3CDC0F-71BF-B840-812C-9588125E0BFE}" type="datetime6">
              <a:rPr lang="de-DE" smtClean="0"/>
              <a:pPr/>
              <a:t>Juni 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339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C041DE73-39AF-D835-4FB7-4F75256C9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4709D06-C7C4-2D2C-865F-8C54A268FA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Data </a:t>
            </a:r>
            <a:r>
              <a:rPr lang="de-DE" dirty="0" err="1"/>
              <a:t>Preprocessing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BCAF00F-F60D-116D-1737-CE9DE8A5C0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/>
              <a:t>Paul Großkopf &amp; Zarah Aigner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46F57DA-E9D2-D738-CC23-C90671D855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Seite </a:t>
            </a:r>
            <a:fld id="{EBA229B5-7CFD-BC45-B1DD-7E8FA6FF2A01}" type="slidenum">
              <a:rPr lang="de-DE" smtClean="0"/>
              <a:pPr/>
              <a:t>5</a:t>
            </a:fld>
            <a:endParaRPr lang="de-DE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04B5DB9-39EB-0661-3D75-25E73C239E5D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C3CDC0F-71BF-B840-812C-9588125E0BFE}" type="datetime6">
              <a:rPr lang="de-DE" smtClean="0"/>
              <a:pPr/>
              <a:t>Juni 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93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FF93044B-1B21-49A9-731E-5B89609E3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8904A7BC-1583-AD8C-4E47-552541B128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Bayesian</a:t>
            </a:r>
            <a:r>
              <a:rPr lang="de-DE" dirty="0"/>
              <a:t> Model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6806D16-B7FD-F382-41D2-D51F78FB06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/>
              <a:t>Paul Großkopf &amp; Zarah Aigner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2C443E6-CD5C-74A0-1FF4-7291D8ADE0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Seite </a:t>
            </a:r>
            <a:fld id="{EBA229B5-7CFD-BC45-B1DD-7E8FA6FF2A01}" type="slidenum">
              <a:rPr lang="de-DE" smtClean="0"/>
              <a:pPr/>
              <a:t>6</a:t>
            </a:fld>
            <a:endParaRPr lang="de-DE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8BDF83F7-F61F-EF3F-87F6-705AB4301E8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C3CDC0F-71BF-B840-812C-9588125E0BFE}" type="datetime6">
              <a:rPr lang="de-DE" smtClean="0"/>
              <a:pPr/>
              <a:t>Juni 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440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2BCE2364-5164-ACAC-C55D-2D2C1ADA26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Predicting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probability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a </a:t>
            </a:r>
            <a:r>
              <a:rPr lang="de-DE" dirty="0" err="1"/>
              <a:t>landslide</a:t>
            </a:r>
            <a:r>
              <a:rPr lang="de-DE" dirty="0"/>
              <a:t> </a:t>
            </a:r>
            <a:r>
              <a:rPr lang="de-DE" dirty="0" err="1"/>
              <a:t>based</a:t>
            </a:r>
            <a:r>
              <a:rPr lang="de-DE" dirty="0"/>
              <a:t> on </a:t>
            </a:r>
            <a:r>
              <a:rPr lang="de-DE" dirty="0" err="1"/>
              <a:t>surface</a:t>
            </a:r>
            <a:r>
              <a:rPr lang="de-DE" dirty="0"/>
              <a:t> and </a:t>
            </a:r>
            <a:r>
              <a:rPr lang="de-DE" dirty="0" err="1"/>
              <a:t>weather</a:t>
            </a:r>
            <a:r>
              <a:rPr lang="de-DE" dirty="0"/>
              <a:t> </a:t>
            </a:r>
            <a:r>
              <a:rPr lang="de-DE" dirty="0" err="1"/>
              <a:t>features</a:t>
            </a:r>
            <a:endParaRPr lang="de-DE" dirty="0"/>
          </a:p>
          <a:p>
            <a:r>
              <a:rPr lang="de-DE" dirty="0"/>
              <a:t>Input </a:t>
            </a:r>
            <a:r>
              <a:rPr lang="de-DE" dirty="0" err="1"/>
              <a:t>features</a:t>
            </a:r>
            <a:r>
              <a:rPr lang="de-DE" dirty="0"/>
              <a:t>:</a:t>
            </a:r>
          </a:p>
          <a:p>
            <a:pPr lvl="1"/>
            <a:r>
              <a:rPr lang="de-DE" dirty="0" err="1"/>
              <a:t>Slope</a:t>
            </a:r>
            <a:endParaRPr lang="de-DE" dirty="0"/>
          </a:p>
          <a:p>
            <a:pPr lvl="1"/>
            <a:r>
              <a:rPr lang="de-DE" dirty="0"/>
              <a:t>Elevation</a:t>
            </a:r>
          </a:p>
          <a:p>
            <a:pPr lvl="1"/>
            <a:r>
              <a:rPr lang="de-DE" dirty="0" err="1"/>
              <a:t>Temperature</a:t>
            </a:r>
            <a:endParaRPr lang="de-DE" dirty="0"/>
          </a:p>
          <a:p>
            <a:pPr lvl="1"/>
            <a:r>
              <a:rPr lang="de-DE" dirty="0"/>
              <a:t>Surface </a:t>
            </a:r>
            <a:r>
              <a:rPr lang="de-DE" dirty="0" err="1"/>
              <a:t>temperature</a:t>
            </a:r>
            <a:endParaRPr lang="de-DE" dirty="0"/>
          </a:p>
          <a:p>
            <a:pPr lvl="1"/>
            <a:r>
              <a:rPr lang="de-DE" dirty="0"/>
              <a:t>Rain </a:t>
            </a:r>
            <a:r>
              <a:rPr lang="de-DE" dirty="0" err="1"/>
              <a:t>percipation</a:t>
            </a:r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r>
              <a:rPr lang="de-DE" dirty="0"/>
              <a:t>Output: P(</a:t>
            </a:r>
            <a:r>
              <a:rPr lang="de-DE" dirty="0" err="1"/>
              <a:t>landslide</a:t>
            </a:r>
            <a:r>
              <a:rPr lang="de-DE" dirty="0"/>
              <a:t> = 1) -&gt; </a:t>
            </a:r>
            <a:r>
              <a:rPr lang="de-DE" dirty="0" err="1"/>
              <a:t>probability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a </a:t>
            </a:r>
            <a:r>
              <a:rPr lang="de-DE" dirty="0" err="1"/>
              <a:t>landslide</a:t>
            </a:r>
            <a:r>
              <a:rPr lang="de-DE" dirty="0"/>
              <a:t> </a:t>
            </a:r>
            <a:r>
              <a:rPr lang="de-DE" dirty="0" err="1"/>
              <a:t>happens</a:t>
            </a:r>
            <a:r>
              <a:rPr lang="de-DE" dirty="0"/>
              <a:t> </a:t>
            </a:r>
          </a:p>
          <a:p>
            <a:pPr lvl="1"/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0E9CBC52-702B-7207-462F-23D9A69679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Bayesian</a:t>
            </a:r>
            <a:r>
              <a:rPr lang="de-DE" dirty="0"/>
              <a:t> </a:t>
            </a:r>
            <a:r>
              <a:rPr lang="de-DE" dirty="0" err="1"/>
              <a:t>Logistic</a:t>
            </a:r>
            <a:r>
              <a:rPr lang="de-DE" dirty="0"/>
              <a:t> Regression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AF9BE0E-F73D-FA0A-A6B5-51CEB7FFB4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/>
              <a:t>Paul Großkopf &amp; Zarah Aigner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4ECCF57-E8DE-5108-61FC-D1DB9FFF84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Seite </a:t>
            </a:r>
            <a:fld id="{EBA229B5-7CFD-BC45-B1DD-7E8FA6FF2A01}" type="slidenum">
              <a:rPr lang="de-DE" smtClean="0"/>
              <a:pPr/>
              <a:t>7</a:t>
            </a:fld>
            <a:endParaRPr lang="de-DE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4754C4A7-6AB9-8747-B503-1681EF8DE3E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C3CDC0F-71BF-B840-812C-9588125E0BFE}" type="datetime6">
              <a:rPr lang="de-DE" smtClean="0"/>
              <a:pPr/>
              <a:t>Juni 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0955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nhaltsplatzhalter 8" descr="Teils sonnig mit einfarbiger Füllung">
            <a:extLst>
              <a:ext uri="{FF2B5EF4-FFF2-40B4-BE49-F238E27FC236}">
                <a16:creationId xmlns:a16="http://schemas.microsoft.com/office/drawing/2014/main" id="{183B6F4F-E924-8EB4-5469-0CA15E4C83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4377" y="1140264"/>
            <a:ext cx="914400" cy="914400"/>
          </a:xfrm>
        </p:spPr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FE87B177-DB74-56BA-06AA-9163E47B25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Model </a:t>
            </a:r>
            <a:r>
              <a:rPr lang="de-DE" dirty="0" err="1"/>
              <a:t>idea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9A79D5B-8D4A-8832-0561-8199C8CF89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/>
              <a:t>Paul Großkopf &amp; Zarah Aigner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E44B2B1-7DA9-A9FF-94BE-D34F5FFF1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Seite </a:t>
            </a:r>
            <a:fld id="{EBA229B5-7CFD-BC45-B1DD-7E8FA6FF2A01}" type="slidenum">
              <a:rPr lang="de-DE" smtClean="0"/>
              <a:pPr/>
              <a:t>8</a:t>
            </a:fld>
            <a:endParaRPr lang="de-DE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6C19AF5-65C7-BB07-D712-F51453AE98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C3CDC0F-71BF-B840-812C-9588125E0BFE}" type="datetime6">
              <a:rPr lang="de-DE" smtClean="0"/>
              <a:pPr/>
              <a:t>Juni 26</a:t>
            </a:fld>
            <a:endParaRPr lang="en-US" dirty="0"/>
          </a:p>
        </p:txBody>
      </p:sp>
      <p:pic>
        <p:nvPicPr>
          <p:cNvPr id="11" name="Grafik 10" descr="Pfeil nach rechts mit einfarbiger Füllung">
            <a:extLst>
              <a:ext uri="{FF2B5EF4-FFF2-40B4-BE49-F238E27FC236}">
                <a16:creationId xmlns:a16="http://schemas.microsoft.com/office/drawing/2014/main" id="{AF9795FD-9C0A-E6CC-B8F5-748F8FF436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90337" y="1457318"/>
            <a:ext cx="685686" cy="685686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C26CBEB1-D8BC-0300-4A35-3662A520F4E6}"/>
              </a:ext>
            </a:extLst>
          </p:cNvPr>
          <p:cNvSpPr txBox="1"/>
          <p:nvPr/>
        </p:nvSpPr>
        <p:spPr>
          <a:xfrm>
            <a:off x="525544" y="2094158"/>
            <a:ext cx="992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Features</a:t>
            </a:r>
          </a:p>
        </p:txBody>
      </p:sp>
      <p:pic>
        <p:nvPicPr>
          <p:cNvPr id="14" name="Grafik 13" descr="Statistiken Silhouette">
            <a:extLst>
              <a:ext uri="{FF2B5EF4-FFF2-40B4-BE49-F238E27FC236}">
                <a16:creationId xmlns:a16="http://schemas.microsoft.com/office/drawing/2014/main" id="{E2B60825-4B5B-A03F-CF41-0D252F968F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38741" y="1192053"/>
            <a:ext cx="914400" cy="914400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A0025016-FC48-FA06-DA80-DC9AAE8B4C65}"/>
              </a:ext>
            </a:extLst>
          </p:cNvPr>
          <p:cNvSpPr txBox="1"/>
          <p:nvPr/>
        </p:nvSpPr>
        <p:spPr>
          <a:xfrm>
            <a:off x="2170664" y="2054664"/>
            <a:ext cx="1996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Linear </a:t>
            </a:r>
            <a:r>
              <a:rPr lang="de-DE" dirty="0" err="1"/>
              <a:t>combination</a:t>
            </a:r>
            <a:endParaRPr lang="de-DE" dirty="0"/>
          </a:p>
        </p:txBody>
      </p:sp>
      <p:pic>
        <p:nvPicPr>
          <p:cNvPr id="16" name="Grafik 15" descr="Pfeil nach rechts mit einfarbiger Füllung">
            <a:extLst>
              <a:ext uri="{FF2B5EF4-FFF2-40B4-BE49-F238E27FC236}">
                <a16:creationId xmlns:a16="http://schemas.microsoft.com/office/drawing/2014/main" id="{E16C8045-3DCE-A768-8F13-80B416784E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87368" y="1457318"/>
            <a:ext cx="685686" cy="685686"/>
          </a:xfrm>
          <a:prstGeom prst="rect">
            <a:avLst/>
          </a:prstGeom>
        </p:spPr>
      </p:pic>
      <p:pic>
        <p:nvPicPr>
          <p:cNvPr id="18" name="Grafik 17" descr="Normalverteilung Silhouette">
            <a:extLst>
              <a:ext uri="{FF2B5EF4-FFF2-40B4-BE49-F238E27FC236}">
                <a16:creationId xmlns:a16="http://schemas.microsoft.com/office/drawing/2014/main" id="{17E732E0-EC5C-ACDB-3A4E-6710128DDE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41710" y="1157249"/>
            <a:ext cx="914400" cy="914400"/>
          </a:xfrm>
          <a:prstGeom prst="rect">
            <a:avLst/>
          </a:prstGeom>
        </p:spPr>
      </p:pic>
      <p:sp>
        <p:nvSpPr>
          <p:cNvPr id="19" name="Textfeld 18">
            <a:extLst>
              <a:ext uri="{FF2B5EF4-FFF2-40B4-BE49-F238E27FC236}">
                <a16:creationId xmlns:a16="http://schemas.microsoft.com/office/drawing/2014/main" id="{1F41452E-90E6-6E1A-6F92-1A3AB2F13969}"/>
              </a:ext>
            </a:extLst>
          </p:cNvPr>
          <p:cNvSpPr txBox="1"/>
          <p:nvPr/>
        </p:nvSpPr>
        <p:spPr>
          <a:xfrm>
            <a:off x="5064822" y="2106453"/>
            <a:ext cx="643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Logit</a:t>
            </a:r>
          </a:p>
        </p:txBody>
      </p:sp>
      <p:pic>
        <p:nvPicPr>
          <p:cNvPr id="20" name="Grafik 19" descr="Pfeil nach rechts mit einfarbiger Füllung">
            <a:extLst>
              <a:ext uri="{FF2B5EF4-FFF2-40B4-BE49-F238E27FC236}">
                <a16:creationId xmlns:a16="http://schemas.microsoft.com/office/drawing/2014/main" id="{440A7E22-0434-272C-DE19-8F0B46FA6B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5892" y="1457318"/>
            <a:ext cx="685686" cy="685686"/>
          </a:xfrm>
          <a:prstGeom prst="rect">
            <a:avLst/>
          </a:prstGeom>
        </p:spPr>
      </p:pic>
      <p:pic>
        <p:nvPicPr>
          <p:cNvPr id="24" name="Grafik 23" descr="Statistiken Silhouette">
            <a:extLst>
              <a:ext uri="{FF2B5EF4-FFF2-40B4-BE49-F238E27FC236}">
                <a16:creationId xmlns:a16="http://schemas.microsoft.com/office/drawing/2014/main" id="{89BC4603-81A2-6C2C-19DA-E627A49C92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87479" y="1228604"/>
            <a:ext cx="914400" cy="914400"/>
          </a:xfrm>
          <a:prstGeom prst="rect">
            <a:avLst/>
          </a:prstGeom>
        </p:spPr>
      </p:pic>
      <p:sp>
        <p:nvSpPr>
          <p:cNvPr id="25" name="Textfeld 24">
            <a:extLst>
              <a:ext uri="{FF2B5EF4-FFF2-40B4-BE49-F238E27FC236}">
                <a16:creationId xmlns:a16="http://schemas.microsoft.com/office/drawing/2014/main" id="{6FE4640D-B88C-B18E-9B38-48045A1F5998}"/>
              </a:ext>
            </a:extLst>
          </p:cNvPr>
          <p:cNvSpPr txBox="1"/>
          <p:nvPr/>
        </p:nvSpPr>
        <p:spPr>
          <a:xfrm>
            <a:off x="6609808" y="2106453"/>
            <a:ext cx="1771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Sigmoid </a:t>
            </a:r>
            <a:r>
              <a:rPr lang="de-DE" dirty="0" err="1"/>
              <a:t>function</a:t>
            </a:r>
            <a:endParaRPr lang="de-DE" dirty="0"/>
          </a:p>
        </p:txBody>
      </p:sp>
      <p:pic>
        <p:nvPicPr>
          <p:cNvPr id="26" name="Grafik 25" descr="Pfeil nach rechts mit einfarbiger Füllung">
            <a:extLst>
              <a:ext uri="{FF2B5EF4-FFF2-40B4-BE49-F238E27FC236}">
                <a16:creationId xmlns:a16="http://schemas.microsoft.com/office/drawing/2014/main" id="{538B0BA0-603E-F502-26A9-1DA0502FF8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46366" y="1457318"/>
            <a:ext cx="685686" cy="685686"/>
          </a:xfrm>
          <a:prstGeom prst="rect">
            <a:avLst/>
          </a:prstGeom>
        </p:spPr>
      </p:pic>
      <p:pic>
        <p:nvPicPr>
          <p:cNvPr id="28" name="Grafik 27" descr="Highwayszenerie mit einfarbiger Füllung">
            <a:extLst>
              <a:ext uri="{FF2B5EF4-FFF2-40B4-BE49-F238E27FC236}">
                <a16:creationId xmlns:a16="http://schemas.microsoft.com/office/drawing/2014/main" id="{05F6967E-EA3C-9DB7-3406-8B7BB1922C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64136" y="1228604"/>
            <a:ext cx="914400" cy="914400"/>
          </a:xfrm>
          <a:prstGeom prst="rect">
            <a:avLst/>
          </a:prstGeom>
        </p:spPr>
      </p:pic>
      <p:sp>
        <p:nvSpPr>
          <p:cNvPr id="29" name="Textfeld 28">
            <a:extLst>
              <a:ext uri="{FF2B5EF4-FFF2-40B4-BE49-F238E27FC236}">
                <a16:creationId xmlns:a16="http://schemas.microsoft.com/office/drawing/2014/main" id="{35E3751D-1A9E-01B6-315B-DCC65FCEABB0}"/>
              </a:ext>
            </a:extLst>
          </p:cNvPr>
          <p:cNvSpPr txBox="1"/>
          <p:nvPr/>
        </p:nvSpPr>
        <p:spPr>
          <a:xfrm>
            <a:off x="9244276" y="2148528"/>
            <a:ext cx="1284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P(</a:t>
            </a:r>
            <a:r>
              <a:rPr lang="de-DE" dirty="0" err="1"/>
              <a:t>landslide</a:t>
            </a:r>
            <a:r>
              <a:rPr lang="de-DE" dirty="0"/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C91D3E00-64B2-C285-137B-9391BA937A14}"/>
                  </a:ext>
                </a:extLst>
              </p:cNvPr>
              <p:cNvSpPr txBox="1"/>
              <p:nvPr/>
            </p:nvSpPr>
            <p:spPr>
              <a:xfrm>
                <a:off x="3446428" y="3202509"/>
                <a:ext cx="529914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AT" sz="2400" b="0" i="1" smtClean="0">
                          <a:latin typeface="Cambria Math" panose="02040503050406030204" pitchFamily="18" charset="0"/>
                        </a:rPr>
                        <m:t>Logit</m:t>
                      </m:r>
                      <m:r>
                        <a:rPr lang="de-AT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de-AT" sz="2400" b="0" i="1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de-AT" sz="2400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de-AT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de-AT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de-AT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AT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de-AT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AT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de-AT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AT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de-AT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AT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AT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AT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AT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</m:oMath>
                  </m:oMathPara>
                </a14:m>
                <a:endParaRPr lang="de-DE" sz="2400" dirty="0"/>
              </a:p>
            </p:txBody>
          </p:sp>
        </mc:Choice>
        <mc:Fallback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C91D3E00-64B2-C285-137B-9391BA937A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6428" y="3202509"/>
                <a:ext cx="5299143" cy="369332"/>
              </a:xfrm>
              <a:prstGeom prst="rect">
                <a:avLst/>
              </a:prstGeom>
              <a:blipFill>
                <a:blip r:embed="rId7"/>
                <a:stretch>
                  <a:fillRect l="-1435" b="-333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9E36095E-6AB5-4626-E5FA-CB876B115FD4}"/>
                  </a:ext>
                </a:extLst>
              </p:cNvPr>
              <p:cNvSpPr txBox="1"/>
              <p:nvPr/>
            </p:nvSpPr>
            <p:spPr>
              <a:xfrm>
                <a:off x="4936835" y="4110010"/>
                <a:ext cx="2318327" cy="7073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AT" sz="2400" b="0" i="1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de-AT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AT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AT" sz="24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AT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AT" sz="2400" b="0" i="1" smtClean="0">
                                  <a:latin typeface="Cambria Math" panose="02040503050406030204" pitchFamily="18" charset="0"/>
                                </a:rPr>
                                <m:t>-</m:t>
                              </m:r>
                              <m:r>
                                <m:rPr>
                                  <m:sty m:val="p"/>
                                </m:rPr>
                                <a:rPr lang="de-AT" sz="2400" b="0" i="1" smtClean="0">
                                  <a:latin typeface="Cambria Math" panose="02040503050406030204" pitchFamily="18" charset="0"/>
                                </a:rPr>
                                <m:t>logit</m:t>
                              </m:r>
                              <m:r>
                                <a:rPr lang="de-AT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de-AT" sz="2400" b="0" i="1" smtClean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  <m:r>
                                <a:rPr lang="de-AT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e-DE" sz="2400" dirty="0"/>
              </a:p>
            </p:txBody>
          </p:sp>
        </mc:Choice>
        <mc:Fallback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9E36095E-6AB5-4626-E5FA-CB876B115F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6835" y="4110010"/>
                <a:ext cx="2318327" cy="707310"/>
              </a:xfrm>
              <a:prstGeom prst="rect">
                <a:avLst/>
              </a:prstGeom>
              <a:blipFill>
                <a:blip r:embed="rId8"/>
                <a:stretch>
                  <a:fillRect l="-2174" r="-2174" b="-1228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6598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9CA7D7CE-D2F7-EE05-29B8-CD4A5F9D58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BEB98B8-60AF-9672-F6A2-2B7DFC6536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Results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3A1523C-7AE1-1B58-FD2B-686A522BE9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/>
              <a:t>Paul Großkopf &amp; Zarah Aigner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9E4DD79-644D-ED95-E3E5-0512CBCE1E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Seite </a:t>
            </a:r>
            <a:fld id="{EBA229B5-7CFD-BC45-B1DD-7E8FA6FF2A01}" type="slidenum">
              <a:rPr lang="de-DE" smtClean="0"/>
              <a:pPr/>
              <a:t>9</a:t>
            </a:fld>
            <a:endParaRPr lang="de-DE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32901866-48E2-9F25-199F-163EC9E8A8D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C3CDC0F-71BF-B840-812C-9588125E0BFE}" type="datetime6">
              <a:rPr lang="de-DE" smtClean="0"/>
              <a:pPr/>
              <a:t>Juni 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9867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A728FE72-F4B4-C587-E008-9DECFE2F2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9F9C536-6CC4-E9A5-FB7F-8A9AA884D6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Model Performance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ED0B162-BA2C-9409-6961-2EA76E098F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/>
              <a:t>Paul Großkopf &amp; Zarah Aigner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A30AAFD-59D9-A21C-BB50-F24C7C17E7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Seite </a:t>
            </a:r>
            <a:fld id="{EBA229B5-7CFD-BC45-B1DD-7E8FA6FF2A01}" type="slidenum">
              <a:rPr lang="de-DE" smtClean="0"/>
              <a:pPr/>
              <a:t>10</a:t>
            </a:fld>
            <a:endParaRPr lang="de-DE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A4EFFE7F-5A00-97D3-B036-05B052B2BE4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C3CDC0F-71BF-B840-812C-9588125E0BFE}" type="datetime6">
              <a:rPr lang="de-DE" smtClean="0"/>
              <a:pPr/>
              <a:t>Juni 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953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C8221615-F21A-3918-C182-80CDC2974A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4D99ED4B-D820-DFFC-2FB3-8258F45CF6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Limitations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D1FE01A-B57F-7957-84D6-5AF4C2557C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/>
              <a:t>Paul Großkopf &amp; Zarah Aigner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FB31257-9D39-8876-CE35-9A4A974650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Seite </a:t>
            </a:r>
            <a:fld id="{EBA229B5-7CFD-BC45-B1DD-7E8FA6FF2A01}" type="slidenum">
              <a:rPr lang="de-DE" smtClean="0"/>
              <a:pPr/>
              <a:t>11</a:t>
            </a:fld>
            <a:endParaRPr lang="de-DE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ABF05D60-3A48-829D-6759-E3B73A47EC7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C3CDC0F-71BF-B840-812C-9588125E0BFE}" type="datetime6">
              <a:rPr lang="de-DE" smtClean="0"/>
              <a:pPr/>
              <a:t>Juni 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2553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F8B93474-8483-564B-00CC-FBD5931789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D4752E5E-1FF9-595E-06FC-0F42635F8C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Outlook and </a:t>
            </a:r>
            <a:r>
              <a:rPr lang="de-DE" dirty="0" err="1"/>
              <a:t>further</a:t>
            </a:r>
            <a:r>
              <a:rPr lang="de-DE" dirty="0"/>
              <a:t> </a:t>
            </a:r>
            <a:r>
              <a:rPr lang="de-DE" dirty="0" err="1"/>
              <a:t>Improvement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3F7EEA9-6216-363D-2483-D50251B813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/>
              <a:t>Paul Großkopf &amp; Zarah Aigner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3AF7608-03E1-0DAE-610A-FD1B906C06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Seite </a:t>
            </a:r>
            <a:fld id="{EBA229B5-7CFD-BC45-B1DD-7E8FA6FF2A01}" type="slidenum">
              <a:rPr lang="de-DE" smtClean="0"/>
              <a:pPr/>
              <a:t>12</a:t>
            </a:fld>
            <a:endParaRPr lang="de-DE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CD4888BB-74F1-9336-943D-D6810F17A57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C3CDC0F-71BF-B840-812C-9588125E0BFE}" type="datetime6">
              <a:rPr lang="de-DE" smtClean="0"/>
              <a:pPr/>
              <a:t>Juni 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8232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5A48B6EB-3BF2-B07A-1033-31051D1FA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DBE67F72-86B3-3AF9-3A00-BB54EDE870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References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4C0552B-7EF7-E458-4678-005DB15AFB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/>
              <a:t>Paul Großkopf &amp; Zarah Aigner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D9A34AC-4520-5A80-0E80-FDD35E3F2B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Seite </a:t>
            </a:r>
            <a:fld id="{EBA229B5-7CFD-BC45-B1DD-7E8FA6FF2A01}" type="slidenum">
              <a:rPr lang="de-DE" smtClean="0"/>
              <a:pPr/>
              <a:t>13</a:t>
            </a:fld>
            <a:endParaRPr lang="de-DE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44108C0E-7280-9F4F-F076-0F46F355E2E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C3CDC0F-71BF-B840-812C-9588125E0BFE}" type="datetime6">
              <a:rPr lang="de-DE" smtClean="0"/>
              <a:pPr/>
              <a:t>Juni 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997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uibk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3361"/>
      </a:accent1>
      <a:accent2>
        <a:srgbClr val="F39200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��
</file>

<file path=customXml/itemProps1.xml><?xml version="1.0" encoding="utf-8"?>
<ds:datastoreItem xmlns:ds="http://schemas.openxmlformats.org/officeDocument/2006/customXml" ds:itemID="{E8D01778-62E1-4AD0-B2FB-E631DD3CCD47}">
  <ds:schemaRefs>
    <ds:schemaRef ds:uri="http://www.w3.org/2001/XMLSchema"/>
    <ds:schemaRef ds:uri="http://www.zhaw.ch/AccessibilityAddI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242</Words>
  <Application>Microsoft Macintosh PowerPoint</Application>
  <PresentationFormat>Breitbild</PresentationFormat>
  <Paragraphs>78</Paragraphs>
  <Slides>13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Wingdings</vt:lpstr>
      <vt:lpstr>Office</vt:lpstr>
      <vt:lpstr>Bayesian Landslide Susceptibility Modeling in the European Alps</vt:lpstr>
      <vt:lpstr>Motivation</vt:lpstr>
      <vt:lpstr>Can Bayesian inference improve landslide susceptibility estimation in the European Alps?</vt:lpstr>
      <vt:lpstr>Acquisition of Data</vt:lpstr>
      <vt:lpstr>Data Preprocessing</vt:lpstr>
      <vt:lpstr>Bayesian Model</vt:lpstr>
      <vt:lpstr>Bayesian Logistic Regression</vt:lpstr>
      <vt:lpstr>Model idea</vt:lpstr>
      <vt:lpstr>Results</vt:lpstr>
      <vt:lpstr>Model Performance</vt:lpstr>
      <vt:lpstr>Limitations</vt:lpstr>
      <vt:lpstr>Outlook and further Improvement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Microsoft Office-Anwender</dc:creator>
  <cp:lastModifiedBy>Aigner, Zarah</cp:lastModifiedBy>
  <cp:revision>105</cp:revision>
  <dcterms:created xsi:type="dcterms:W3CDTF">2017-06-06T07:41:45Z</dcterms:created>
  <dcterms:modified xsi:type="dcterms:W3CDTF">2026-06-20T16:04:08Z</dcterms:modified>
</cp:coreProperties>
</file>